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307"/>
    <a:srgbClr val="0D0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4524" autoAdjust="0"/>
  </p:normalViewPr>
  <p:slideViewPr>
    <p:cSldViewPr>
      <p:cViewPr varScale="1">
        <p:scale>
          <a:sx n="80" d="100"/>
          <a:sy n="80" d="100"/>
        </p:scale>
        <p:origin x="1522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E82EB5-9984-4CC1-AE7C-AB0BF6D5B764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4C709083-D842-4F85-97FC-86333C3D9D69}">
      <dgm:prSet phldrT="[Text]"/>
      <dgm:spPr/>
      <dgm:t>
        <a:bodyPr/>
        <a:lstStyle/>
        <a:p>
          <a:r>
            <a:rPr lang="en-US" dirty="0"/>
            <a:t>Power BI </a:t>
          </a:r>
          <a:endParaRPr lang="en-IN" dirty="0"/>
        </a:p>
      </dgm:t>
    </dgm:pt>
    <dgm:pt modelId="{FC832217-0283-440B-AAC2-07D264BEFE74}" type="parTrans" cxnId="{512EE989-11CB-4626-B53F-12C91DA82562}">
      <dgm:prSet/>
      <dgm:spPr/>
      <dgm:t>
        <a:bodyPr/>
        <a:lstStyle/>
        <a:p>
          <a:endParaRPr lang="en-IN"/>
        </a:p>
      </dgm:t>
    </dgm:pt>
    <dgm:pt modelId="{99108C0C-AD34-403E-99E9-3D508149B14D}" type="sibTrans" cxnId="{512EE989-11CB-4626-B53F-12C91DA82562}">
      <dgm:prSet/>
      <dgm:spPr/>
      <dgm:t>
        <a:bodyPr/>
        <a:lstStyle/>
        <a:p>
          <a:endParaRPr lang="en-IN"/>
        </a:p>
      </dgm:t>
    </dgm:pt>
    <dgm:pt modelId="{8EC05C4F-38C4-49E4-94EB-CBA22EEF97A0}" type="pres">
      <dgm:prSet presAssocID="{0DE82EB5-9984-4CC1-AE7C-AB0BF6D5B764}" presName="Name0" presStyleCnt="0">
        <dgm:presLayoutVars>
          <dgm:dir/>
          <dgm:resizeHandles val="exact"/>
        </dgm:presLayoutVars>
      </dgm:prSet>
      <dgm:spPr/>
    </dgm:pt>
    <dgm:pt modelId="{4865C21B-ECFB-4388-969D-93B20288ED18}" type="pres">
      <dgm:prSet presAssocID="{4C709083-D842-4F85-97FC-86333C3D9D69}" presName="compNode" presStyleCnt="0"/>
      <dgm:spPr/>
    </dgm:pt>
    <dgm:pt modelId="{61158E3E-FE2E-44B8-B05B-6D38CF0060E6}" type="pres">
      <dgm:prSet presAssocID="{4C709083-D842-4F85-97FC-86333C3D9D69}" presName="pictRect" presStyleLbl="node1" presStyleIdx="0" presStyleCnt="1" custScaleX="48320" custScaleY="46312" custLinFactNeighborX="25861" custLinFactNeighborY="54759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</dgm:pt>
    <dgm:pt modelId="{4DE800EF-645D-4A27-BAEF-04702B1E9441}" type="pres">
      <dgm:prSet presAssocID="{4C709083-D842-4F85-97FC-86333C3D9D69}" presName="textRect" presStyleLbl="revTx" presStyleIdx="0" presStyleCnt="1" custScaleX="52201" custScaleY="25665" custLinFactNeighborX="24926" custLinFactNeighborY="34878">
        <dgm:presLayoutVars>
          <dgm:bulletEnabled val="1"/>
        </dgm:presLayoutVars>
      </dgm:prSet>
      <dgm:spPr/>
    </dgm:pt>
  </dgm:ptLst>
  <dgm:cxnLst>
    <dgm:cxn modelId="{846C8332-9B34-496A-870C-7B08540D21E7}" type="presOf" srcId="{4C709083-D842-4F85-97FC-86333C3D9D69}" destId="{4DE800EF-645D-4A27-BAEF-04702B1E9441}" srcOrd="0" destOrd="0" presId="urn:microsoft.com/office/officeart/2005/8/layout/pList1"/>
    <dgm:cxn modelId="{512EE989-11CB-4626-B53F-12C91DA82562}" srcId="{0DE82EB5-9984-4CC1-AE7C-AB0BF6D5B764}" destId="{4C709083-D842-4F85-97FC-86333C3D9D69}" srcOrd="0" destOrd="0" parTransId="{FC832217-0283-440B-AAC2-07D264BEFE74}" sibTransId="{99108C0C-AD34-403E-99E9-3D508149B14D}"/>
    <dgm:cxn modelId="{5C195FCD-C11A-4543-9D74-EF646E231606}" type="presOf" srcId="{0DE82EB5-9984-4CC1-AE7C-AB0BF6D5B764}" destId="{8EC05C4F-38C4-49E4-94EB-CBA22EEF97A0}" srcOrd="0" destOrd="0" presId="urn:microsoft.com/office/officeart/2005/8/layout/pList1"/>
    <dgm:cxn modelId="{11D74332-0A4C-4706-BA71-A5BF0DB92555}" type="presParOf" srcId="{8EC05C4F-38C4-49E4-94EB-CBA22EEF97A0}" destId="{4865C21B-ECFB-4388-969D-93B20288ED18}" srcOrd="0" destOrd="0" presId="urn:microsoft.com/office/officeart/2005/8/layout/pList1"/>
    <dgm:cxn modelId="{71B529CF-574E-4F46-BBA1-E2B581C3E362}" type="presParOf" srcId="{4865C21B-ECFB-4388-969D-93B20288ED18}" destId="{61158E3E-FE2E-44B8-B05B-6D38CF0060E6}" srcOrd="0" destOrd="0" presId="urn:microsoft.com/office/officeart/2005/8/layout/pList1"/>
    <dgm:cxn modelId="{73F29584-739E-444C-9830-D5A08BD97308}" type="presParOf" srcId="{4865C21B-ECFB-4388-969D-93B20288ED18}" destId="{4DE800EF-645D-4A27-BAEF-04702B1E944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58E3E-FE2E-44B8-B05B-6D38CF0060E6}">
      <dsp:nvSpPr>
        <dsp:cNvPr id="0" name=""/>
        <dsp:cNvSpPr/>
      </dsp:nvSpPr>
      <dsp:spPr>
        <a:xfrm>
          <a:off x="3015495" y="2336797"/>
          <a:ext cx="2817151" cy="1860356"/>
        </a:xfrm>
        <a:prstGeom prst="round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800EF-645D-4A27-BAEF-04702B1E9441}">
      <dsp:nvSpPr>
        <dsp:cNvPr id="0" name=""/>
        <dsp:cNvSpPr/>
      </dsp:nvSpPr>
      <dsp:spPr>
        <a:xfrm>
          <a:off x="2789226" y="4016865"/>
          <a:ext cx="3043421" cy="555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Power BI </a:t>
          </a:r>
          <a:endParaRPr lang="en-IN" sz="2600" kern="1200" dirty="0"/>
        </a:p>
      </dsp:txBody>
      <dsp:txXfrm>
        <a:off x="2789226" y="4016865"/>
        <a:ext cx="3043421" cy="555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644BF-12FB-47F9-AFD7-095FD0765C1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C7964-B9A6-481E-90F1-BC0736D01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7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DC7964-B9A6-481E-90F1-BC0736D011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35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93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43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66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33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01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96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80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98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10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4662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520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264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236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61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35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F9DE92-4A3A-46B1-A3AE-7AB5DCF3C8DC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290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  <p:sldLayoutId id="214748391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6840760" cy="44337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DATA STORY TELLING &amp; STATISTICAL VALIDATION</a:t>
            </a:r>
            <a:endParaRPr lang="en-IN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3068960"/>
            <a:ext cx="7350968" cy="1752600"/>
          </a:xfrm>
        </p:spPr>
        <p:txBody>
          <a:bodyPr>
            <a:noAutofit/>
          </a:bodyPr>
          <a:lstStyle/>
          <a:p>
            <a:pPr algn="l"/>
            <a:r>
              <a:rPr lang="en-US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ApexPlanet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Analytics Internship              </a:t>
            </a:r>
          </a:p>
          <a:p>
            <a:pPr algn="l"/>
            <a:r>
              <a:rPr lang="en-US" dirty="0"/>
              <a:t>Prepared by: Daragani Sravani</a:t>
            </a:r>
          </a:p>
          <a:p>
            <a:pPr algn="l"/>
            <a:r>
              <a:rPr lang="en-US" dirty="0"/>
              <a:t>Sales Performance Analysis using Python, SQL       &amp;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75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75720"/>
          </a:xfrm>
        </p:spPr>
        <p:txBody>
          <a:bodyPr/>
          <a:lstStyle/>
          <a:p>
            <a:r>
              <a:rPr lang="en-US" dirty="0"/>
              <a:t>Analysis sales transaction data to identify patterns, trends and business opportunities.</a:t>
            </a:r>
          </a:p>
          <a:p>
            <a:r>
              <a:rPr lang="en-US" dirty="0"/>
              <a:t>Transform analysis findings into a clear business story for decision-making</a:t>
            </a:r>
          </a:p>
          <a:p>
            <a:r>
              <a:rPr lang="en-US" dirty="0"/>
              <a:t>Validate one important business insight using a </a:t>
            </a:r>
            <a:r>
              <a:rPr lang="en-US" dirty="0" err="1"/>
              <a:t>statical</a:t>
            </a:r>
            <a:r>
              <a:rPr lang="en-US" dirty="0"/>
              <a:t> test.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92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980728"/>
            <a:ext cx="2743200" cy="4320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Dataset Overview</a:t>
            </a:r>
            <a:endParaRPr lang="en-IN" b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3B3CF49-9510-495D-F88E-533DF7F54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275" y="1196752"/>
            <a:ext cx="4835525" cy="3959221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685800" y="1916832"/>
            <a:ext cx="2950096" cy="4331568"/>
          </a:xfrm>
        </p:spPr>
        <p:txBody>
          <a:bodyPr/>
          <a:lstStyle/>
          <a:p>
            <a:r>
              <a:rPr lang="en-US" dirty="0"/>
              <a:t>Transaction ID, Category, Item, Price per Unit, </a:t>
            </a:r>
            <a:r>
              <a:rPr lang="en-US" dirty="0" err="1"/>
              <a:t>Quntity</a:t>
            </a:r>
            <a:r>
              <a:rPr lang="en-US" dirty="0"/>
              <a:t>, Total Spent, Payment Method, Transaction Date, Discount  Applied.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rgbClr val="101307"/>
                </a:solidFill>
              </a:rPr>
              <a:t>      Cleaned in Google </a:t>
            </a:r>
            <a:r>
              <a:rPr lang="en-US" dirty="0" err="1">
                <a:solidFill>
                  <a:srgbClr val="101307"/>
                </a:solidFill>
              </a:rPr>
              <a:t>Colab</a:t>
            </a:r>
            <a:r>
              <a:rPr lang="en-US" dirty="0">
                <a:solidFill>
                  <a:srgbClr val="101307"/>
                </a:solidFill>
              </a:rPr>
              <a:t> </a:t>
            </a:r>
            <a:r>
              <a:rPr lang="en-US" dirty="0">
                <a:solidFill>
                  <a:srgbClr val="101307"/>
                </a:solidFill>
                <a:sym typeface="Wingdings" pitchFamily="2" charset="2"/>
              </a:rPr>
              <a:t></a:t>
            </a:r>
            <a:r>
              <a:rPr lang="en-US" dirty="0">
                <a:solidFill>
                  <a:srgbClr val="101307"/>
                </a:solidFill>
              </a:rPr>
              <a:t>               Queried in MySQL Workbench </a:t>
            </a:r>
            <a:r>
              <a:rPr lang="en-US" dirty="0">
                <a:solidFill>
                  <a:srgbClr val="101307"/>
                </a:solidFill>
                <a:sym typeface="Wingdings" pitchFamily="2" charset="2"/>
              </a:rPr>
              <a:t></a:t>
            </a:r>
            <a:endParaRPr lang="en-US" dirty="0">
              <a:solidFill>
                <a:srgbClr val="101307"/>
              </a:solidFill>
            </a:endParaRPr>
          </a:p>
          <a:p>
            <a:r>
              <a:rPr lang="en-US" dirty="0">
                <a:solidFill>
                  <a:srgbClr val="101307"/>
                </a:solidFill>
              </a:rPr>
              <a:t>Visualized with Python statistics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US" dirty="0">
              <a:solidFill>
                <a:srgbClr val="0D0F05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7865" y="1598606"/>
            <a:ext cx="178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Columns used: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9238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836712"/>
            <a:ext cx="2743200" cy="581025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Total &amp; Technologies</a:t>
            </a:r>
            <a:endParaRPr lang="en-IN" sz="2400" b="1" dirty="0"/>
          </a:p>
        </p:txBody>
      </p:sp>
      <p:graphicFrame>
        <p:nvGraphicFramePr>
          <p:cNvPr id="13" name="Picture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474163"/>
              </p:ext>
            </p:extLst>
          </p:nvPr>
        </p:nvGraphicFramePr>
        <p:xfrm>
          <a:off x="3308623" y="1016426"/>
          <a:ext cx="583264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Python </a:t>
            </a: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Google </a:t>
            </a:r>
            <a:r>
              <a:rPr lang="en-US" dirty="0" err="1">
                <a:sym typeface="Wingdings" pitchFamily="2" charset="2"/>
              </a:rPr>
              <a:t>Colab</a:t>
            </a: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MySQL Workbench</a:t>
            </a: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Power BI</a:t>
            </a: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Pandas</a:t>
            </a:r>
          </a:p>
          <a:p>
            <a:endParaRPr lang="en-US" dirty="0">
              <a:sym typeface="Wingdings" pitchFamily="2" charset="2"/>
            </a:endParaRPr>
          </a:p>
          <a:p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6300192" y="980728"/>
            <a:ext cx="2736304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3419872" y="3456314"/>
            <a:ext cx="2736304" cy="17277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3315419" y="980728"/>
            <a:ext cx="2736304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4139952" y="2933094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Colab</a:t>
            </a:r>
            <a:endParaRPr lang="en-IN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6961291" y="2933094"/>
            <a:ext cx="1414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EDA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4355976" y="5195953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42B2F-39F4-279B-156B-F23B541734A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167" y="1068615"/>
            <a:ext cx="2460848" cy="1795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2ED20B-B3C3-22F3-AD8A-2DA06994DC9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313" y="1041646"/>
            <a:ext cx="2550060" cy="1795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5EB04-CCB8-EEAA-74D3-6924148AC1C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861" y="3573016"/>
            <a:ext cx="2532389" cy="147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75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48145" y="980728"/>
            <a:ext cx="6704176" cy="73080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Key Performance Indicators</a:t>
            </a:r>
            <a:endParaRPr lang="en-IN" sz="4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11485" y="2276872"/>
            <a:ext cx="26573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à"/>
            </a:pPr>
            <a:r>
              <a:rPr lang="en-US" dirty="0"/>
              <a:t>Total </a:t>
            </a:r>
            <a:r>
              <a:rPr lang="en-US" dirty="0" err="1"/>
              <a:t>Slaes</a:t>
            </a:r>
            <a:r>
              <a:rPr lang="en-US" dirty="0"/>
              <a:t>/Total:</a:t>
            </a:r>
          </a:p>
          <a:p>
            <a:pPr marL="285750" indent="-285750">
              <a:buFont typeface="Wingdings"/>
              <a:buChar char="à"/>
            </a:pPr>
            <a:endParaRPr lang="en-US" dirty="0"/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Total Transactions: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Total Quantity Sold:</a:t>
            </a:r>
          </a:p>
          <a:p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Average Order Values: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62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Key Business Insights</a:t>
            </a:r>
            <a:endParaRPr lang="en-IN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2348880"/>
            <a:ext cx="61012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Highest sales month: January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Top Performing item: Item_25_FUR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Best category by sales: Butchers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Most used payment method: Cash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Discount impact: No significant effect on average amount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37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08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Interactive Dashboard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0C54F-04F1-A083-0AC0-EF88B0C95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" y="1548200"/>
            <a:ext cx="8928993" cy="432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7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Business Recommendations</a:t>
            </a:r>
            <a:endParaRPr lang="en-IN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2276872"/>
            <a:ext cx="67510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Focus promotions on high-performing products and categories.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Strengthen inventory planning during peak sales months.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Use product/category insights to improve business strategy.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Optimize payment options based on customer preference.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27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Validation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2492896"/>
            <a:ext cx="8568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Null Hypothesis (H): No significant difference in average sales amount between discounted and non-discounted transactions.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Alternative Hypothesis(H): Significant difference exists between the two groups.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Test Used: Independent Sample T-Test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T-Statistic: 0.254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P-Value: 0.799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Conclusion: Since p-value &gt; 0.05, discount did not significantly affect average  sales amount.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2020198"/>
            <a:ext cx="806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u="sng" dirty="0"/>
              <a:t>Business Question: Does discount significantly affect average sales amount?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075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6712"/>
            <a:ext cx="8305800" cy="1143000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2417118"/>
            <a:ext cx="74983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This project combined  </a:t>
            </a:r>
            <a:r>
              <a:rPr lang="en-US" dirty="0" err="1"/>
              <a:t>DataCleaning</a:t>
            </a:r>
            <a:r>
              <a:rPr lang="en-US" dirty="0"/>
              <a:t>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EDA,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SQL querying,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</a:t>
            </a:r>
            <a:r>
              <a:rPr lang="en-US" dirty="0" err="1"/>
              <a:t>Dashboarding</a:t>
            </a:r>
            <a:r>
              <a:rPr lang="en-US" dirty="0"/>
              <a:t>,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Storytelling,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Hypothesis testing.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It demonstrates  a complete  end-to-end analysis workflow.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Thank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339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153</TotalTime>
  <Words>327</Words>
  <Application>Microsoft Office PowerPoint</Application>
  <PresentationFormat>On-screen Show (4:3)</PresentationFormat>
  <Paragraphs>77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Wingdings</vt:lpstr>
      <vt:lpstr>Wingdings 3</vt:lpstr>
      <vt:lpstr>Ion</vt:lpstr>
      <vt:lpstr>DATA STORY TELLING &amp; STATISTICAL VALIDATION</vt:lpstr>
      <vt:lpstr>Project Objective</vt:lpstr>
      <vt:lpstr>Dataset Overview</vt:lpstr>
      <vt:lpstr>Total &amp; Technologies</vt:lpstr>
      <vt:lpstr>Key Performance Indicators</vt:lpstr>
      <vt:lpstr>Key Business Insights</vt:lpstr>
      <vt:lpstr>Interactive Dashboard</vt:lpstr>
      <vt:lpstr>Business Recommendations</vt:lpstr>
      <vt:lpstr>Statistical Validation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 TELLING &amp; STATISTICAL VALIDATION</dc:title>
  <dc:creator>sree</dc:creator>
  <cp:lastModifiedBy>Sravani Daragani</cp:lastModifiedBy>
  <cp:revision>12</cp:revision>
  <dcterms:created xsi:type="dcterms:W3CDTF">2026-04-01T18:37:05Z</dcterms:created>
  <dcterms:modified xsi:type="dcterms:W3CDTF">2026-07-26T11:14:22Z</dcterms:modified>
</cp:coreProperties>
</file>